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sldIdLst>
    <p:sldId id="256" r:id="rId2"/>
    <p:sldId id="257" r:id="rId3"/>
    <p:sldId id="258" r:id="rId4"/>
    <p:sldId id="266" r:id="rId5"/>
    <p:sldId id="259" r:id="rId6"/>
    <p:sldId id="267" r:id="rId7"/>
    <p:sldId id="270" r:id="rId8"/>
    <p:sldId id="264" r:id="rId9"/>
    <p:sldId id="269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629" autoAdjust="0"/>
  </p:normalViewPr>
  <p:slideViewPr>
    <p:cSldViewPr>
      <p:cViewPr>
        <p:scale>
          <a:sx n="118" d="100"/>
          <a:sy n="118" d="100"/>
        </p:scale>
        <p:origin x="-143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0CD43-2662-4C9D-81F3-566E18D4B09E}" type="datetimeFigureOut">
              <a:rPr lang="ru-RU" smtClean="0"/>
              <a:t>18.03.2021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D778DC-DF4E-470B-BBC7-63444CC9C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994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D778DC-DF4E-470B-BBC7-63444CC9CFA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146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Скругленный прямоугольник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697D1-FA7E-4594-B69B-200FF530055E}" type="datetime1">
              <a:rPr lang="ru-RU" smtClean="0"/>
              <a:t>18.03.2021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07C68-F113-4912-8B91-9B7CE1B55BF1}" type="datetime1">
              <a:rPr lang="ru-RU" smtClean="0"/>
              <a:t>18.03.2021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Скругленный прямоугольник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4E54-E476-40CE-BFEE-E7258D2A185E}" type="datetime1">
              <a:rPr lang="ru-RU" smtClean="0"/>
              <a:t>18.03.2021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E79C-2E5B-493B-A24B-29229A85E3A4}" type="datetime1">
              <a:rPr lang="ru-RU" smtClean="0"/>
              <a:t>18.03.2021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70A96-122C-4070-B115-9AD51351E70A}" type="datetime1">
              <a:rPr lang="ru-RU" smtClean="0"/>
              <a:t>18.03.2021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Объект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65868-61C3-4BF9-802D-9944FA4934A4}" type="datetime1">
              <a:rPr lang="ru-RU" smtClean="0"/>
              <a:t>18.03.2021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3771F-D777-4B2C-BFB4-93E2196771BC}" type="datetime1">
              <a:rPr lang="ru-RU" smtClean="0"/>
              <a:t>18.03.2021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Скругленный прямоугольник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6DBF3-A972-48E3-A847-5DB14579BA00}" type="datetime1">
              <a:rPr lang="ru-RU" smtClean="0"/>
              <a:t>18.03.2021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Объект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894F-8940-4FB0-A820-86C4B7DCD780}" type="datetime1">
              <a:rPr lang="ru-RU" smtClean="0"/>
              <a:t>18.03.2021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17297-674E-41E7-8957-DCB58BC65DA7}" type="datetime1">
              <a:rPr lang="ru-RU" smtClean="0"/>
              <a:t>18.03.2021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E3B0-8E5B-46EB-9655-51C780BB9CC6}" type="datetime1">
              <a:rPr lang="ru-RU" smtClean="0"/>
              <a:t>18.03.2021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FF88000-C299-428A-93F2-0C4D887779A6}" type="datetime1">
              <a:rPr lang="ru-RU" smtClean="0"/>
              <a:t>18.03.2021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51720" y="3140968"/>
            <a:ext cx="6400800" cy="2820888"/>
          </a:xfrm>
        </p:spPr>
        <p:txBody>
          <a:bodyPr>
            <a:normAutofit fontScale="92500" lnSpcReduction="20000"/>
          </a:bodyPr>
          <a:lstStyle/>
          <a:p>
            <a:pPr algn="r"/>
            <a:endParaRPr lang="ru-RU" dirty="0" smtClean="0"/>
          </a:p>
          <a:p>
            <a:pPr algn="r"/>
            <a:endParaRPr lang="ru-RU" dirty="0" smtClean="0"/>
          </a:p>
          <a:p>
            <a:pPr algn="r"/>
            <a:endParaRPr lang="en-US" dirty="0" smtClean="0"/>
          </a:p>
          <a:p>
            <a:pPr algn="r"/>
            <a:r>
              <a:rPr lang="ru-RU" sz="2000" dirty="0" smtClean="0">
                <a:solidFill>
                  <a:schemeClr val="tx1"/>
                </a:solidFill>
              </a:rPr>
              <a:t>У</a:t>
            </a:r>
            <a:r>
              <a:rPr lang="ru-RU" sz="2000" dirty="0" smtClean="0">
                <a:solidFill>
                  <a:schemeClr val="tx1"/>
                </a:solidFill>
              </a:rPr>
              <a:t>частники:</a:t>
            </a:r>
          </a:p>
          <a:p>
            <a:pPr algn="r"/>
            <a:r>
              <a:rPr lang="ru-RU" sz="2000" dirty="0" err="1" smtClean="0">
                <a:solidFill>
                  <a:schemeClr val="tx1"/>
                </a:solidFill>
              </a:rPr>
              <a:t>Бацула</a:t>
            </a:r>
            <a:r>
              <a:rPr lang="ru-RU" sz="2000" dirty="0" smtClean="0">
                <a:solidFill>
                  <a:schemeClr val="tx1"/>
                </a:solidFill>
              </a:rPr>
              <a:t> Дмитрий</a:t>
            </a:r>
          </a:p>
          <a:p>
            <a:pPr algn="r"/>
            <a:r>
              <a:rPr lang="ru-RU" sz="2000" dirty="0" smtClean="0">
                <a:solidFill>
                  <a:schemeClr val="tx1"/>
                </a:solidFill>
              </a:rPr>
              <a:t>Сенин Владимир</a:t>
            </a:r>
            <a:endParaRPr lang="en-US" sz="2000" dirty="0" smtClean="0">
              <a:solidFill>
                <a:schemeClr val="tx1"/>
              </a:solidFill>
            </a:endParaRPr>
          </a:p>
          <a:p>
            <a:pPr algn="r"/>
            <a:r>
              <a:rPr lang="ru-RU" sz="2000" dirty="0" smtClean="0">
                <a:solidFill>
                  <a:schemeClr val="tx1"/>
                </a:solidFill>
              </a:rPr>
              <a:t>Дегтяренко Александр</a:t>
            </a:r>
          </a:p>
          <a:p>
            <a:pPr algn="r"/>
            <a:r>
              <a:rPr lang="ru-RU" sz="2000" dirty="0" err="1" smtClean="0">
                <a:solidFill>
                  <a:schemeClr val="tx1"/>
                </a:solidFill>
              </a:rPr>
              <a:t>Долинский</a:t>
            </a:r>
            <a:r>
              <a:rPr lang="ru-RU" sz="2000" dirty="0" smtClean="0">
                <a:solidFill>
                  <a:schemeClr val="tx1"/>
                </a:solidFill>
              </a:rPr>
              <a:t> Дмитрий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BEST</a:t>
            </a:r>
            <a:r>
              <a:rPr lang="ru-RU" dirty="0" smtClean="0"/>
              <a:t> </a:t>
            </a:r>
            <a:r>
              <a:rPr lang="en-US" dirty="0" smtClean="0"/>
              <a:t>Hack 2021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699792" y="3155648"/>
            <a:ext cx="38633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800" dirty="0"/>
              <a:t>Команда </a:t>
            </a:r>
            <a:r>
              <a:rPr lang="en-US" sz="2800" dirty="0"/>
              <a:t>“Boys next door”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99526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Содержание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Выбор подхода</a:t>
            </a:r>
            <a:endParaRPr lang="ru-RU" sz="3600" dirty="0" smtClean="0"/>
          </a:p>
          <a:p>
            <a:r>
              <a:rPr lang="ru-RU" sz="3600" dirty="0" smtClean="0"/>
              <a:t>Предобработка данных</a:t>
            </a:r>
            <a:endParaRPr lang="ru-RU" sz="3600" dirty="0" smtClean="0"/>
          </a:p>
          <a:p>
            <a:r>
              <a:rPr lang="ru-RU" sz="3600" dirty="0" smtClean="0"/>
              <a:t>Построение моделей классификации</a:t>
            </a:r>
          </a:p>
          <a:p>
            <a:r>
              <a:rPr lang="ru-RU" sz="3600" dirty="0" smtClean="0"/>
              <a:t>Подведение итогов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988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6207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Выбор подхода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</a:t>
            </a:fld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Подход 1: Вероятность взятия кредита в текущем месяце.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1026" name="Picture 2" descr="Просроченный кредит не помешает получить новый | Экономическая газет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708920"/>
            <a:ext cx="4762500" cy="317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388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6207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Выбор подхода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</a:t>
            </a:fld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Подход 2: Среднее количество кредитов в месяц </a:t>
            </a:r>
            <a:endParaRPr lang="ru-RU" dirty="0"/>
          </a:p>
          <a:p>
            <a:endParaRPr lang="ru-RU" dirty="0"/>
          </a:p>
        </p:txBody>
      </p:sp>
      <p:pic>
        <p:nvPicPr>
          <p:cNvPr id="2050" name="Picture 2" descr="Как взять кредит на миллион рублей – статья на «МосИнвестФинанс»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276872"/>
            <a:ext cx="6912768" cy="388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24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43608" y="812290"/>
            <a:ext cx="70567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Шаг 1: Избавляемся от выбросов в данных</a:t>
            </a:r>
          </a:p>
          <a:p>
            <a:r>
              <a:rPr lang="ru-RU" dirty="0"/>
              <a:t>Шаг 2: </a:t>
            </a:r>
            <a:r>
              <a:rPr lang="ru-RU" dirty="0" smtClean="0"/>
              <a:t>Заменяем пропущенные значения</a:t>
            </a:r>
          </a:p>
          <a:p>
            <a:r>
              <a:rPr lang="ru-RU" dirty="0"/>
              <a:t>Шаг </a:t>
            </a:r>
            <a:r>
              <a:rPr lang="ru-RU" dirty="0" smtClean="0"/>
              <a:t>3: Кодирование категориальных признаков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6207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Предобработка данных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5</a:t>
            </a:fld>
            <a:endParaRPr lang="ru-RU"/>
          </a:p>
        </p:txBody>
      </p:sp>
      <p:pic>
        <p:nvPicPr>
          <p:cNvPr id="14" name="Объект 1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743" y="1905228"/>
            <a:ext cx="5485714" cy="3657143"/>
          </a:xfrm>
        </p:spPr>
      </p:pic>
    </p:spTree>
    <p:extLst>
      <p:ext uri="{BB962C8B-B14F-4D97-AF65-F5344CB8AC3E}">
        <p14:creationId xmlns:p14="http://schemas.microsoft.com/office/powerpoint/2010/main" val="255898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62074"/>
          </a:xfrm>
        </p:spPr>
        <p:txBody>
          <a:bodyPr>
            <a:normAutofit fontScale="90000"/>
          </a:bodyPr>
          <a:lstStyle/>
          <a:p>
            <a:r>
              <a:rPr lang="ru-RU" dirty="0"/>
              <a:t>Построение моделей классификации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6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Для первого подхода</a:t>
            </a:r>
            <a:r>
              <a:rPr lang="en-US" dirty="0" smtClean="0"/>
              <a:t>: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/>
              <a:t>1) </a:t>
            </a:r>
            <a:r>
              <a:rPr lang="ru-RU" dirty="0" smtClean="0"/>
              <a:t>Сформировали </a:t>
            </a:r>
            <a:r>
              <a:rPr lang="ru-RU" dirty="0" err="1" smtClean="0"/>
              <a:t>таргет</a:t>
            </a:r>
            <a:endParaRPr lang="ru-RU" dirty="0" smtClean="0"/>
          </a:p>
          <a:p>
            <a:r>
              <a:rPr lang="ru-RU" dirty="0" smtClean="0"/>
              <a:t>2) Разбили данные на </a:t>
            </a:r>
            <a:r>
              <a:rPr lang="ru-RU" dirty="0" err="1" smtClean="0"/>
              <a:t>трейн</a:t>
            </a:r>
            <a:r>
              <a:rPr lang="ru-RU" dirty="0" smtClean="0"/>
              <a:t> и тест,  учитывая, что данные расположены во времени</a:t>
            </a:r>
          </a:p>
          <a:p>
            <a:r>
              <a:rPr lang="ru-RU" dirty="0" smtClean="0">
                <a:latin typeface="Cambria" pitchFamily="18" charset="0"/>
                <a:ea typeface="Cambria" pitchFamily="18" charset="0"/>
              </a:rPr>
              <a:t>3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) </a:t>
            </a:r>
            <a:r>
              <a:rPr lang="ru-RU" dirty="0" smtClean="0">
                <a:latin typeface="Cambria" pitchFamily="18" charset="0"/>
                <a:ea typeface="Cambria" pitchFamily="18" charset="0"/>
              </a:rPr>
              <a:t>Выбрали метрику</a:t>
            </a:r>
            <a:endParaRPr lang="ru-RU" dirty="0" smtClean="0"/>
          </a:p>
          <a:p>
            <a:r>
              <a:rPr lang="ru-RU" dirty="0" smtClean="0"/>
              <a:t>4) Провели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Time Series Cross Validation</a:t>
            </a:r>
          </a:p>
          <a:p>
            <a:r>
              <a:rPr lang="ru-RU" dirty="0" smtClean="0">
                <a:latin typeface="Cambria" pitchFamily="18" charset="0"/>
                <a:ea typeface="Cambria" pitchFamily="18" charset="0"/>
              </a:rPr>
              <a:t>5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)</a:t>
            </a:r>
            <a:r>
              <a:rPr lang="ru-RU" dirty="0" smtClean="0">
                <a:latin typeface="Cambria" pitchFamily="18" charset="0"/>
                <a:ea typeface="Cambria" pitchFamily="18" charset="0"/>
              </a:rPr>
              <a:t> Оценили результаты на тестовых данных</a:t>
            </a:r>
            <a:endParaRPr lang="ru-RU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16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62074"/>
          </a:xfrm>
        </p:spPr>
        <p:txBody>
          <a:bodyPr>
            <a:normAutofit fontScale="90000"/>
          </a:bodyPr>
          <a:lstStyle/>
          <a:p>
            <a:r>
              <a:rPr lang="ru-RU" dirty="0"/>
              <a:t>Построение моделей классификации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7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Для второго подхода</a:t>
            </a:r>
            <a:r>
              <a:rPr lang="en-US" dirty="0" smtClean="0"/>
              <a:t>: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1) Сформировали </a:t>
            </a:r>
            <a:r>
              <a:rPr lang="ru-RU" dirty="0" err="1" smtClean="0"/>
              <a:t>таргет</a:t>
            </a:r>
            <a:endParaRPr lang="ru-RU" dirty="0"/>
          </a:p>
          <a:p>
            <a:r>
              <a:rPr lang="ru-RU" dirty="0" smtClean="0"/>
              <a:t>2) Разбили данные на </a:t>
            </a:r>
            <a:r>
              <a:rPr lang="ru-RU" dirty="0" err="1" smtClean="0"/>
              <a:t>трейн</a:t>
            </a:r>
            <a:r>
              <a:rPr lang="ru-RU" dirty="0" smtClean="0"/>
              <a:t> и тест</a:t>
            </a:r>
          </a:p>
          <a:p>
            <a:r>
              <a:rPr lang="ru-RU" dirty="0" smtClean="0">
                <a:latin typeface="Cambria" pitchFamily="18" charset="0"/>
                <a:ea typeface="Cambria" pitchFamily="18" charset="0"/>
              </a:rPr>
              <a:t>3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) </a:t>
            </a:r>
            <a:r>
              <a:rPr lang="ru-RU" dirty="0" smtClean="0">
                <a:latin typeface="Cambria" pitchFamily="18" charset="0"/>
                <a:ea typeface="Cambria" pitchFamily="18" charset="0"/>
              </a:rPr>
              <a:t>Выбрали метрику</a:t>
            </a:r>
            <a:endParaRPr lang="ru-RU" dirty="0" smtClean="0"/>
          </a:p>
          <a:p>
            <a:r>
              <a:rPr lang="ru-RU" dirty="0" smtClean="0"/>
              <a:t>4) Провели </a:t>
            </a:r>
            <a:r>
              <a:rPr lang="ru-RU" dirty="0" smtClean="0">
                <a:latin typeface="Cambria" pitchFamily="18" charset="0"/>
                <a:ea typeface="Cambria" pitchFamily="18" charset="0"/>
              </a:rPr>
              <a:t>кросс-</a:t>
            </a:r>
            <a:r>
              <a:rPr lang="ru-RU" dirty="0" err="1" smtClean="0">
                <a:latin typeface="Cambria" pitchFamily="18" charset="0"/>
                <a:ea typeface="Cambria" pitchFamily="18" charset="0"/>
              </a:rPr>
              <a:t>валидацию</a:t>
            </a:r>
            <a:endParaRPr lang="en-US" dirty="0" smtClean="0">
              <a:latin typeface="Cambria" pitchFamily="18" charset="0"/>
              <a:ea typeface="Cambria" pitchFamily="18" charset="0"/>
            </a:endParaRPr>
          </a:p>
          <a:p>
            <a:r>
              <a:rPr lang="ru-RU" dirty="0" smtClean="0">
                <a:latin typeface="Cambria" pitchFamily="18" charset="0"/>
                <a:ea typeface="Cambria" pitchFamily="18" charset="0"/>
              </a:rPr>
              <a:t>5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)</a:t>
            </a:r>
            <a:r>
              <a:rPr lang="ru-RU" dirty="0" smtClean="0">
                <a:latin typeface="Cambria" pitchFamily="18" charset="0"/>
                <a:ea typeface="Cambria" pitchFamily="18" charset="0"/>
              </a:rPr>
              <a:t> Оценили результаты на тестовых данных</a:t>
            </a:r>
            <a:endParaRPr lang="ru-RU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5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Подведение итогов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sz="2000" b="1" i="1" dirty="0" smtClean="0"/>
          </a:p>
          <a:p>
            <a:pPr lvl="1">
              <a:lnSpc>
                <a:spcPct val="150000"/>
              </a:lnSpc>
            </a:pPr>
            <a:r>
              <a:rPr lang="ru-RU" i="1" dirty="0" smtClean="0"/>
              <a:t>Разработали две модели с разным </a:t>
            </a:r>
            <a:r>
              <a:rPr lang="ru-RU" i="1" dirty="0" err="1" smtClean="0"/>
              <a:t>таргетом</a:t>
            </a:r>
            <a:endParaRPr lang="ru-RU" i="1" dirty="0" smtClean="0"/>
          </a:p>
          <a:p>
            <a:pPr lvl="1">
              <a:lnSpc>
                <a:spcPct val="150000"/>
              </a:lnSpc>
            </a:pPr>
            <a:r>
              <a:rPr lang="ru-RU" i="1" dirty="0" smtClean="0"/>
              <a:t>Первая модель с учетом временного характера данных показала результат близкий к случайному</a:t>
            </a:r>
          </a:p>
          <a:p>
            <a:pPr lvl="1">
              <a:lnSpc>
                <a:spcPct val="150000"/>
              </a:lnSpc>
            </a:pPr>
            <a:r>
              <a:rPr lang="ru-RU" i="1" dirty="0" smtClean="0"/>
              <a:t>Вторая модель показала:</a:t>
            </a:r>
          </a:p>
          <a:p>
            <a:pPr marL="320040" lvl="1" indent="0">
              <a:lnSpc>
                <a:spcPct val="150000"/>
              </a:lnSpc>
              <a:buNone/>
            </a:pPr>
            <a:r>
              <a:rPr lang="ru-RU" i="1" dirty="0" smtClean="0"/>
              <a:t>    </a:t>
            </a:r>
            <a:r>
              <a:rPr lang="en-US" i="1" dirty="0" smtClean="0">
                <a:latin typeface="Cambria" pitchFamily="18" charset="0"/>
                <a:ea typeface="Cambria" pitchFamily="18" charset="0"/>
              </a:rPr>
              <a:t>ROC-AUC</a:t>
            </a:r>
            <a:r>
              <a:rPr lang="ru-RU" i="1" dirty="0" smtClean="0">
                <a:latin typeface="Cambria" pitchFamily="18" charset="0"/>
                <a:ea typeface="Cambria" pitchFamily="18" charset="0"/>
              </a:rPr>
              <a:t> = 0.89</a:t>
            </a:r>
          </a:p>
          <a:p>
            <a:pPr marL="320040" lvl="1" indent="0">
              <a:lnSpc>
                <a:spcPct val="150000"/>
              </a:lnSpc>
              <a:buNone/>
            </a:pPr>
            <a:r>
              <a:rPr lang="ru-RU" i="1" dirty="0" smtClean="0">
                <a:latin typeface="Cambria" pitchFamily="18" charset="0"/>
                <a:ea typeface="Cambria" pitchFamily="18" charset="0"/>
              </a:rPr>
              <a:t>    </a:t>
            </a:r>
            <a:r>
              <a:rPr lang="en-US" i="1" dirty="0" smtClean="0">
                <a:latin typeface="Cambria" pitchFamily="18" charset="0"/>
                <a:ea typeface="Cambria" pitchFamily="18" charset="0"/>
              </a:rPr>
              <a:t>Recall</a:t>
            </a:r>
            <a:r>
              <a:rPr lang="ru-RU" i="1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ru-RU" i="1" dirty="0">
                <a:latin typeface="Cambria" pitchFamily="18" charset="0"/>
                <a:ea typeface="Cambria" pitchFamily="18" charset="0"/>
              </a:rPr>
              <a:t>= </a:t>
            </a:r>
            <a:r>
              <a:rPr lang="ru-RU" i="1" dirty="0" smtClean="0">
                <a:latin typeface="Cambria" pitchFamily="18" charset="0"/>
                <a:ea typeface="Cambria" pitchFamily="18" charset="0"/>
              </a:rPr>
              <a:t>0.8</a:t>
            </a:r>
            <a:r>
              <a:rPr lang="en-US" i="1" dirty="0" smtClean="0">
                <a:latin typeface="Cambria" pitchFamily="18" charset="0"/>
                <a:ea typeface="Cambria" pitchFamily="18" charset="0"/>
              </a:rPr>
              <a:t>2</a:t>
            </a:r>
          </a:p>
          <a:p>
            <a:pPr marL="320040" lvl="1" indent="0">
              <a:lnSpc>
                <a:spcPct val="150000"/>
              </a:lnSpc>
              <a:buNone/>
            </a:pPr>
            <a:r>
              <a:rPr lang="en-US" i="1" dirty="0">
                <a:latin typeface="Cambria" pitchFamily="18" charset="0"/>
                <a:ea typeface="Cambria" pitchFamily="18" charset="0"/>
              </a:rPr>
              <a:t> </a:t>
            </a:r>
            <a:r>
              <a:rPr lang="en-US" i="1" dirty="0" smtClean="0">
                <a:latin typeface="Cambria" pitchFamily="18" charset="0"/>
                <a:ea typeface="Cambria" pitchFamily="18" charset="0"/>
              </a:rPr>
              <a:t>   F1 score = 0.83</a:t>
            </a:r>
          </a:p>
          <a:p>
            <a:pPr marL="320040" lvl="1" indent="0">
              <a:buNone/>
            </a:pPr>
            <a:endParaRPr lang="ru-RU" sz="1800" b="1" i="1" dirty="0" smtClean="0"/>
          </a:p>
          <a:p>
            <a:pPr marL="0" lvl="1" indent="0">
              <a:buNone/>
            </a:pPr>
            <a:endParaRPr lang="ru-RU" dirty="0" smtClean="0"/>
          </a:p>
          <a:p>
            <a:pPr marL="320040" lvl="1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88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6207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Спасибо за внимание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9</a:t>
            </a:fld>
            <a:endParaRPr lang="ru-RU"/>
          </a:p>
        </p:txBody>
      </p:sp>
      <p:pic>
        <p:nvPicPr>
          <p:cNvPr id="3074" name="Picture 2" descr="Cumbusters | Gachimuchi Lyrics, Song Meanings, Videos, Full Albums &amp; Bi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628800"/>
            <a:ext cx="4176464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4325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праведливость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302</TotalTime>
  <Words>202</Words>
  <Application>Microsoft Office PowerPoint</Application>
  <PresentationFormat>Экран (4:3)</PresentationFormat>
  <Paragraphs>58</Paragraphs>
  <Slides>9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Справедливость</vt:lpstr>
      <vt:lpstr>BEST Hack 2021</vt:lpstr>
      <vt:lpstr>Содержание</vt:lpstr>
      <vt:lpstr>Выбор подхода</vt:lpstr>
      <vt:lpstr>Выбор подхода</vt:lpstr>
      <vt:lpstr>Предобработка данных</vt:lpstr>
      <vt:lpstr>Построение моделей классификации</vt:lpstr>
      <vt:lpstr>Построение моделей классификации</vt:lpstr>
      <vt:lpstr>Подведение итогов</vt:lpstr>
      <vt:lpstr>Спасибо за внимание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hackaton_BEST</dc:title>
  <dc:creator>Dean</dc:creator>
  <cp:lastModifiedBy>МЫ</cp:lastModifiedBy>
  <cp:revision>30</cp:revision>
  <dcterms:created xsi:type="dcterms:W3CDTF">2020-03-12T13:47:40Z</dcterms:created>
  <dcterms:modified xsi:type="dcterms:W3CDTF">2021-03-18T18:16:36Z</dcterms:modified>
</cp:coreProperties>
</file>